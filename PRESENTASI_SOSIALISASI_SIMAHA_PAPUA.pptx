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97280"/>
            <a:ext cx="3840480" cy="365760"/>
          </a:xfrm>
          <a:prstGeom prst="roundRect">
            <a:avLst>
              <a:gd name="adj" fmla="val 25000"/>
            </a:avLst>
          </a:prstGeom>
          <a:solidFill>
            <a:srgbClr val="2A201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</a:rPr>
              <a:t>KEMENTERIAN HAJI DAN UMRAH 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SOSIALISASI SISTEM INFORMASI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ASRAMA HAJI (SIMAHA)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CEBF"/>
                </a:solidFill>
              </a:rPr>
              <a:t>Transformasi Digital Tata Kelola Akomodasi, Layanan Jemaah Haji Papua,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CEBF"/>
                </a:solidFill>
              </a:rPr>
              <a:t>Sewa Gedung MICE, dan Transparansi Penyetoran PNBP Terintegrasi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4389120"/>
            <a:ext cx="9875520" cy="1280160"/>
          </a:xfrm>
          <a:prstGeom prst="roundRect">
            <a:avLst>
              <a:gd name="adj" fmla="val 10714"/>
            </a:avLst>
          </a:prstGeom>
          <a:solidFill>
            <a:srgbClr val="241C15"/>
          </a:solidFill>
          <a:ln w="12700">
            <a:solidFill>
              <a:srgbClr val="3D2F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52628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UPT Asrama Haji Transit Jayapura — Provinsi Papua
</a:t>
            </a:r>
            <a:pPr indent="0" marL="0">
              <a:buNone/>
            </a:pPr>
            <a:r>
              <a:rPr lang="en-US" sz="1000" dirty="0">
                <a:solidFill>
                  <a:srgbClr val="B0A894"/>
                </a:solidFill>
              </a:rPr>
              <a:t>Gedung Mina (32 Kamar) • Aula Utama (300 Pax) • Ruang Kelas (30 Pax) • Front Desk POS &amp; SIMPONI Billing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LANDASAN &amp; LATAR BELAKANG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Latar Belakang &amp; Urgensi Implementasi SIMAHA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2024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</a:rPr>
              <a:t>Efisiensi Operasional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</a:rPr>
              <a:t>1. Tantangan Pencatatan Manual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Sebelumnya pencatatan sewa kamar dan peminjaman aula dilakukan secara parsial/buku register manual yang berisiko terjadinya benturan jadwal dan lambatnya rekonsiliasi.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2024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Kepatuhan Regulasi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</a:rPr>
              <a:t>2. Akuntabilitas &amp; Transparansi PNBP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15468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Menegakkan PP No. 59 Tahun 2020 tentang tarif sewa aset negara. Seluruh penerimaan terhubung dengan kode billing SIMPONI Kementerian Keuangan untuk setoran langsung ke Kas Negara.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92024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Pelayanan Prima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23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</a:rPr>
              <a:t>3. Standardisasi Layanan Jemaah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15468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Menyediakan Surat Perintah Masuk Asrama (SPMA) digital, nomor kasur otomatis, bagasi barcode, dan integrasi pemeriksaan kesehatan untuk kelancaran kloter Embarkasi Antara.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ARSITEKTUR SISTEM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Arsitektur Ekosistem &amp; Modul Terpadu SIMAHA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87452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74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</a:rPr>
              <a:t>Portal Publik &amp; Kalkulator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Katalog kamar &amp; aula, simulasi PNBP transparan, verifikasi SPMA jemaah secara mandiri.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87452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874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</a:rPr>
              <a:t>Front Desk &amp; Reservasi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3774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Manajemen pemesanan kamar &amp; ruang pertemuan dengan proteksi anti-double booking atomik.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87452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C9A9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874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1540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</a:rPr>
              <a:t>Kasir POS Cepat 1-Layar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23774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Check-in walk-in cepat, pencatatan deposit, cetak struk thermal 80mm/58mm, dan invoice.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8862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11480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114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</a:rPr>
              <a:t>Room Status &amp; Housekeeping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61772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Papan kontrol kondisi kamar (Ready, Dirty, Cleaning, Inspected, Inactive) realtime.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38862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411480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C9A961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4114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</a:rPr>
              <a:t>Master Tarif &amp; Rate History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17720" y="461772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Penyesuaian tarif dinamis ber-SK dengan audit log dan penguncian harga historis (Snapshot Rate).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38862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411480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C9A961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4114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1540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</a:rPr>
              <a:t>Layanan Embarkasi Antara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75320" y="461772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Workflow terpadu SPMA, manifes kloter 29 Kab/Kota Papua, dan barcode label koper jemaah.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MASTER DATA UNIT SEWA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Standardisasi Master Data Unit Sewa &amp; Tarif Brosur Resmi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2560320" cy="91440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KAMAR SUPERIOR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Penginapan (Per Malam)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D2B"/>
                </a:solidFill>
              </a:rPr>
              <a:t>Rp 300.000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/ malam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" y="3383280"/>
            <a:ext cx="201168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Kapasitas: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2 Orang (Gedung Mina)
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Ketersediaan Fisik: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2 Unit (M101 &amp; M102)
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Fasilitas Terintegrasi: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555555"/>
                </a:solidFill>
              </a:rPr>
              <a:t>Double Bed, AC, Meja, Lemari, Closet Duduk, Smart TV LED, Water Heater, WiFi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645920"/>
            <a:ext cx="2560320" cy="91440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KAMAR STANDAR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Penginapan (Per Malam)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1188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D2B"/>
                </a:solidFill>
              </a:rPr>
              <a:t>Rp 250.000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1188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/ malam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3383280"/>
            <a:ext cx="201168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47472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Kapasitas: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2 Orang (Gedung Mina)
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Ketersediaan Fisik: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30 Unit (M103–M116 &amp; M201–M216)
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Fasilitas Terintegrasi: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555555"/>
                </a:solidFill>
              </a:rPr>
              <a:t>2 Single Bed, AC, Meja, Lemari, Closet Duduk, Smart TV LED, WiFi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645920"/>
            <a:ext cx="2560320" cy="91440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AULA UTAMA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Ruang Pertemuan (Per Hari)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5508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D2B"/>
                </a:solidFill>
              </a:rPr>
              <a:t>Rp 3.900.000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/ hari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3383280"/>
            <a:ext cx="201168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47472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Kapasitas: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Maksimal 300 Orang
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Ketersediaan Fisik: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Gedung Serbaguna MICE
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Fasilitas Terintegrasi: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555555"/>
                </a:solidFill>
              </a:rPr>
              <a:t>Sound System Wireless, Infocus / Proyektor, AC, Kursi Futura, Panggung Utama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9611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0" y="1645920"/>
            <a:ext cx="2560320" cy="91440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34" name="Text 32"/>
          <p:cNvSpPr/>
          <p:nvPr/>
        </p:nvSpPr>
        <p:spPr>
          <a:xfrm>
            <a:off x="90982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RUANG KELAS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982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Ruang Pertemuan (Per Hari)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09828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D2B"/>
                </a:solidFill>
              </a:rPr>
              <a:t>Rp 650.000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9828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/ hari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235440" y="3383280"/>
            <a:ext cx="201168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347472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Kapasitas: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Maksimal 30 Orang
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Ketersediaan Fisik: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Gedung Diklat &amp; Bimbingan
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A1410"/>
                </a:solidFill>
              </a:rPr>
              <a:t>Fasilitas Terintegrasi: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555555"/>
                </a:solidFill>
              </a:rPr>
              <a:t>Sound System, Infocus / Proyektor, AC, Kursi Futura Meja Diklat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INTEGRITAS FORMULA TARIF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Pemisahan Rumus Baku Perhitungan Biaya Sewa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</a:rPr>
              <a:t>A. RESERVASI PENGINAPAN KAMAR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D2B"/>
                </a:solidFill>
              </a:rPr>
              <a:t>Berlaku untuk Kamar Superior &amp; Kamar Standar (Gedung Mina)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FBF8EE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43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2B"/>
                </a:solidFill>
              </a:rPr>
              <a:t>Total Biaya = Jumlah Malam × Tarif Kamar × Jumlah Kamar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A1410"/>
                </a:solidFill>
              </a:rPr>
              <a:t>Ketentuan Baku Penginapan: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• Satuan perhitungan wajib menggunakan durasi malam menginap.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• Waktu resmi check-in: 14.00 WIT dan check-out: 12.00 WIT.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• Contoh simulasi: 2 Kamar Standar × 3 Malam × Rp 250.000 =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8A6D2B"/>
                </a:solidFill>
              </a:rPr>
              <a:t>Rp 1.500.000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• Akun PNBP: 425111 (Jasa Penginapan &amp; Aset Asrama Haji).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0"/>
                </a:solidFill>
              </a:rPr>
              <a:t>B. RESERVASI RUANG PERTEMUAN (MICE)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D2B"/>
                </a:solidFill>
              </a:rPr>
              <a:t>Berlaku untuk Aula Utama (300 Pax) &amp; Ruang Kelas (30 Pax)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274320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BF8EE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7432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2B"/>
                </a:solidFill>
              </a:rPr>
              <a:t>Total Biaya = Jumlah Hari × Tarif Ruangan × Jumlah Unit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7490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A1410"/>
                </a:solidFill>
              </a:rPr>
              <a:t>Ketentuan Baku Ruang Pertemuan: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• Satuan perhitungan wajib menggunakan durasi hari kalender sewa.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• Waktu sewa harian: 08.00 s.d 22.00 WIT (Full Day Event).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• Contoh simulasi: 1 Aula Utama × 2 Hari × Rp 3.900.000 =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8A6D2B"/>
                </a:solidFill>
              </a:rPr>
              <a:t>Rp 7.800.000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• Akun PNBP: 425112 (Sewa Fasilitas, Gedung &amp; Bangunan).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KEAMANAN &amp; RIWAYAT TARIF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Pengelolaan Tarif Dinamis, SK Berlaku, &amp; Rate History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Fleksibilitas SK Baru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1. Pembaruan Tarif Tanpa Koding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Administrator dapat memperbarui tarif resmi kapan saja melalui dashboard tanpa perlu mengubah kode sumber aplikasi atau hardcode frontend.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Legalitas Formal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6520" y="2240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2. Tanggal Berlaku Efektif &amp; Alasan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97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Setiap kali dilakukan perubahan tarif, administrator diwajibkan menginput tanggal mulai berlaku (effective date) dan nomor SK/alasan penyesuaian tarif.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11480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148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Integritas Laporan PNBP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4480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3. Perlindungan Snapshot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9377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Transaksi atau Surat Pesanan yang telah diterbitkan di masa lampau tetap mengunci harga saat reservasi dibuat. Tidak terjadi perubahan angka tagihan masa lalu.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8862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11480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1148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Kesiapan Audit BPK / Itjen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4480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4. Audit Trail Lengkap (Rate History)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49377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Seluruh riwayat perubahan tersimpan permanen pada entitas RateHistory, menampilkan tarif sebelum, tarif sesudah, petugas pengubah, dan waktu perubahan.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KEANDALAN OPERASIONAL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Pencegahan Double-Booking &amp; Fitur Front Desk POS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PROTEKSI ATOMIK DOUBLE BOOKING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D2B"/>
                </a:solidFill>
              </a:rPr>
              <a:t>Validasi Rentang Tanggal &amp; Kapasitas Realtime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182880" cy="1828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697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Pencegahan Benturan Kamar Fisik: Sistem membatasi kuota kamar riil (2 Superior &amp; 30 Standar Gedung Mina) secara atomik.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05840" y="3566160"/>
            <a:ext cx="182880" cy="1828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5204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Pencegahan Benturan Jadwal Aula: Bila aula telah terpesan pada rentang tanggal X, sistem langsung menolak reservasi baru dengan rincian nama acara bentrok.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4389120"/>
            <a:ext cx="182880" cy="1828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3434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Validasi Batas Kapasitas: Reservasi Aula &gt; 300 orang atau Ruang Kelas &gt; 30 orang otomatis dicegah demi keselamatan dan kenyamanan.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5212080"/>
            <a:ext cx="182880" cy="1828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51663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Audit Mutasi Transaksi: Setiap percobaan benturan dicatat ke audit log.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KASIR CEPAT 1-LAYAR (FRONT DESK POS)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D2B"/>
                </a:solidFill>
              </a:rPr>
              <a:t>Registrasi Tamu Walk-In Nonstop 24 Jam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182880" cy="1828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6974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Proses Check-in &lt; 1 Menit: Input identitas tamu, pilih kamar tersedia, kunci nomor kasur, dan terima deposit dalam 1 formulir ringkas.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0" y="3566160"/>
            <a:ext cx="182880" cy="1828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5204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Cetak Struk Thermal Standar Bank: Dukungan printer thermal 80mm dan 58mm untuk bukti tanda terima tamu dan bukti serah terima deposit.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4389120"/>
            <a:ext cx="182880" cy="1828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343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Penerbitan Invoice SIMPONI Otomatis: Setiap transaksi menghasilkan kode penagihan resmi PNBP lengkap dengan status lunas atau piutang.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5212080"/>
            <a:ext cx="182880" cy="1828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5166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Terintegrasi Housekeeping: Kamar checkout langsung berganti status ke DIRTY untuk dibersihkan petugas secara terjadwal.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LAYANAN OPERASIONAL HAJI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Alur Penerimaan Jemaah Haji (SPMA Digital &amp; Embarkasi Antara)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031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A141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1"/>
                </a:solidFill>
              </a:rPr>
              <a:t>TAHAP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Validasi QR Code SPMA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383280"/>
            <a:ext cx="210312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Jemaah kloter tiba di gerbang, diverifikasi melalui Surat Perintah Masuk Asrama digital atau Nomor Porsi Haji.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21031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A1410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1"/>
                </a:solidFill>
              </a:rPr>
              <a:t>TAHAP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03320" y="2651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Pemeriksaan Medis BKK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3383280"/>
            <a:ext cx="210312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Pemeriksaan kesehatan akhir oleh Tim Balai Kekarantinaan Kesehatan (BKK) dan penyematan gelang kloter resmi.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1031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A141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1"/>
                </a:solidFill>
              </a:rPr>
              <a:t>TAHAP 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651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Alokasi Kamar &amp; Bagasi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3383280"/>
            <a:ext cx="210312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Penempatan kasur otomatis (pria/wanita terpisah), pencetakan Luggage Barcode Tag agar koper langsung tiba di kamar.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61120" y="182880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9720" y="21031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A1410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72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961"/>
                </a:solidFill>
              </a:rPr>
              <a:t>TAHAP 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89720" y="2651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Pelepasan ke Bandara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89720" y="3383280"/>
            <a:ext cx="210312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Seremoni pelepasan resmi kloter menuju Bandara Sentani Jayapura untuk penerbangan charter ke Embarkasi Makassar (UPG).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KEUANGAN NEGARA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Integrasi PNBP &amp; Penyetoran Kas Negara (SIMPONI MPN-G3)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2024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D2B"/>
                </a:solidFill>
              </a:rPr>
              <a:t>AKUN 425111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Pendapatan Jasa Penginapan &amp; Asrama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Mencakup seluruh penerimaan sewa kamar Superior (Rp 300.000) dan Standar (Rp 250.000) per malam untuk tamu umum, kedinasan, bimbingan manasik, dan instansi luar.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2024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AKUN 425112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Pendapatan Sewa Gedung, Bangunan &amp; MICE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2918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Mencakup seluruh penerimaan sewa fasilitas Aula Utama (Rp 3.900.000/hari) dan Ruang Kelas (Rp 650.000/hari) untuk kegiatan wisuda, seminar, resepsi, dan pelatihan.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92024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MPN-G3 KEMENKEU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Kode Billing SIMPONI 15-Digit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Sistem menerbitkan Kode Billing resmi untuk penyetoran langsung ke Kas Negara via teller bank persepsi, ATM, m-Banking, atau loket PT Pos Indonesia dengan bukti SSBP sah.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KEAMANAN &amp; TATA KELOLA PENGGUNA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Pembagian Hak Akses Pengguna Sesuai Tugas &amp; Fungsi (RBAC)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SUPERADMIN / KEPALA UPT (User: admin)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Pengelolaan master jenis kamar, nomor kamar fisik, dan fasilitas.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Perubahan tarif resmi dan verifikasi SK masa berlaku.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Audit log aktivitas sistem dan pemantauan pendapatan PNBP.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Konfigurasi akun petugas dan hak akses.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FRONT DESK / RESEPSIONIS (User: resepsionis)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148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Pendaftaran reservasi kamar dan ruang pertemuan.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Proses check-in dan checkout tamu dinas / umum.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Penerimaan dan verifikasi SPMA jemaah haji kloter.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Pemeriksaan ketersediaan unit dan cetak SPK / Surat Pesanan.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BENDAHARA / KASIR POS (User: kasir)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3891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Kasir cepat 1-layar untuk tamu walk-in harian.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Penerbitan invoice dan billing SIMPONI resmi.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Pencatatan uang jaminan (deposit) &amp; pengembalian saat checkout.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Cetak kuitansi dan struk thermal transaksi.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</a:rPr>
              <a:t>TIM HOUSEKEEPING (User: housekeeping)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43891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Pembaruan status kebersihan kamar (Ready, Dirty, Cleaning).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Pencatatan kesiapan AC, water heater, sprei, dan handuk.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Pelaporan kebutuhan perbaikan teknis ke bagian pemeliharaan.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• Pemeriksaan kesiapan aula sebelum dan sesudah acara.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029200" cy="320040"/>
          </a:xfrm>
          <a:prstGeom prst="roundRect">
            <a:avLst>
              <a:gd name="adj" fmla="val 28571"/>
            </a:avLst>
          </a:prstGeom>
          <a:solidFill>
            <a:srgbClr val="FBF8EE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2B"/>
                </a:solidFill>
              </a:rPr>
              <a:t>RENCANA IMPLEMENTASI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</a:rPr>
              <a:t>Roadmap Implementasi &amp; Rencana Operasional UPT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0"/>
          </a:xfrm>
          <a:prstGeom prst="line">
            <a:avLst/>
          </a:prstGeom>
          <a:noFill/>
          <a:ln w="19050">
            <a:solidFill>
              <a:srgbClr val="E8DF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UPT Asrama Haji Transit Jayapura • Provinsi Papua | Kementerian Haji dan Umrah RI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6D2B"/>
                </a:solidFill>
              </a:rPr>
              <a:t>SIMAHA PAPUA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20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A141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</a:rPr>
              <a:t>FASE I (Minggu 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Sosialisasi &amp; Bimtek Petugas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291840"/>
            <a:ext cx="283464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747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Pengenalan antarmuka baru bagi staf Front Desk, Kasir, dan Housekeeping.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Pelatihan skenario tamu walk-in dan sewa aula instansi.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Simulasi penerbitan billing SIMPONI.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920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A141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</a:rPr>
              <a:t>FASE II (Minggu 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Uji Coba Lapangan (Parallel Run)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283464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4747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Pencatatan ganda sistem baru bersamaan dengan register lama.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Evaluasi waktu check-in jemaah dan responsivitas kasir.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Kalibrasi stok kamar fisik dan koordinasi kebersihan.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8DF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920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A1410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</a:rPr>
              <a:t>FASE III (Minggu 3)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2468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</a:rPr>
              <a:t>Peralihan Penuh (Full Go-Live)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3291840"/>
            <a:ext cx="283464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4747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Seluruh reservasi dan pembayaran menggunakan SIMAHA Papua.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Pelaporan realisasi PNBP otomatis per minggu.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• Dukungan Helpdesk Front Desk 24 jam nonstop.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18320" cy="4572000"/>
          </a:xfrm>
          <a:prstGeom prst="roundRect">
            <a:avLst>
              <a:gd name="adj" fmla="val 4000"/>
            </a:avLst>
          </a:prstGeom>
          <a:solidFill>
            <a:srgbClr val="241C15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6459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1"/>
                </a:solidFill>
              </a:rPr>
              <a:t>TERIMA KASIH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2377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Sesi Tanya Jawab, Diskusi &amp; Masukan Penyempurnaan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017520"/>
            <a:ext cx="8503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D5CEBF"/>
                </a:solidFill>
              </a:rPr>
              <a:t>"Mewujudkan Tata Kelola Aset Asrama Haji yang Akuntabel, Transparan, dan Modern Melayani Jemaah Haji Tanah Papua"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9A961"/>
                </a:solidFill>
              </a:rPr>
              <a:t>UPT Asrama Haji Transit Jayapura — Kementerian Haji dan Umrah RI
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Front Desk 24 Jam: (0967) 581-229 • WhatsApp: 0812-4800-1234
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9A961"/>
                </a:solidFill>
              </a:rPr>
              <a:t>Aplikasi Online: https://asrama-haji-papua.vercel.app
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B0A894"/>
                </a:solidFill>
              </a:rPr>
              <a:t>Akses Lokal Kantor: http://localhost:5173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Sosialisasi Sistem Informasi Manajemen Asrama Haji (SIMAHA) Papua</dc:title>
  <dc:subject>PptxGenJS Presentation</dc:subject>
  <dc:creator>Kementerian Haji dan Umrah RI - UPT Asrama Haji Transit Jayapura</dc:creator>
  <cp:lastModifiedBy>Kementerian Haji dan Umrah RI - UPT Asrama Haji Transit Jayapura</cp:lastModifiedBy>
  <cp:revision>1</cp:revision>
  <dcterms:created xsi:type="dcterms:W3CDTF">2026-10-23T04:41:32Z</dcterms:created>
  <dcterms:modified xsi:type="dcterms:W3CDTF">2026-10-23T04:41:32Z</dcterms:modified>
</cp:coreProperties>
</file>